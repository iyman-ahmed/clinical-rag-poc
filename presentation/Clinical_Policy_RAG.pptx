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Iyman Ahmed. This is Clinical Policy RAG, my proof of concept for the Cotiviti GenAI Research Engineer Intern assessment, Topic 3: Content Management in Healthcare. It's a fully local, zero-cost RAG system that answers billing and coding policy questions with citations, and detects changes between policy versions. Everything you're about to see runs on my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map before we dive in: problem and idea, how the RAG flow works, the guardrail — the standout moment — the change detector, the stack, a live demo, why this fits Cotiviti's payment-integrity work, and the design philosophy behind it. Each section title here is a live link to that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Payment-integrity analysts spend real time digging through dense CMS and Medicare PDFs to answer questions like 'is this MRI covered' or 'which ICD-10 code applies.' That's slow and error-prone by itself — and it gets dangerous the moment you drop in an LLM that can confidently invent a code or a coverage rule. The idea: one screen that gives cited, traceable answers plus structured change detection, and it never leaves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five-step RAG loop: embed the question into a vector, search ChromaDB for the top-k relevant policy chunks, build a prompt that says 'answer ONLY using these excerpts,' send it to a local LLM through LM Studio, and return the answer with its sources. The grounding step is the whole point — the model is never allowed to answer from anything outside the retrieved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that matters most for healthcare. Ask it 'what is the capital of France' — nothing to do with policy — and instead of guessing, it replies exactly: 'Not found in the provided policy documents.' That's a hard-coded abstention guardrail in the system prompt. In a regulated, payment-bearing workflow, a confident wrong answer is far more expensive than an honest refusal.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feature: feed it two versions of a policy — here, Medicare telehealth CY2024 versus CY2025 — and it emits a structured JSON diff, not prose. Each entry has an aspect, the old rule, the new rule, a change_type (tightened, loosened, added, removed, or clarified), and an illustrative claim-impact sentence. These two rows are real: the originating-site rule reverting for non-behavioral telehealth, and the new modifier 93/FQ requirement for audio-only billing. This is the kind of output a downstream rules engine could actually consume.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deliberately small: LM Studio for the local LLM so there's no API key and no per-token cost; ChromaDB as the vector store; all-MiniLM-L6-v2 for embeddings, an 80MB model that runs fine on CPU; and FastAPI with a custom single-page dashboard serving the same rag/ modules the CLI uses. Local, free, private, and pinned so it's reproducible on any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actual demo video I'll run these four queries live: the lumbar spine MRI question, which comes back cited to LCD L34220; the ICD-10 lookup for type 2 diabetes with CKD, returning E11.22 and N18; a summarization ask on the 2025 telehealth policy; and finally the guardrail question about France. [Screenshot/clip placeholder goes here before recording.]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exactly how a payment-integrity analyst at Cotiviti would want to work: instant, cited answers over a living policy library instead of manual search; a hallucination guardrail that protects against a fabricated code or rule; and full transparency, since the dashboard always shows the exact evidence used for every answer, human-in-the-loop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maps back to what the assessment explicitly rewards: satisfice, don't over-build. Local-first so there's no cloud dependency or data exposure, zero cost, a simple four-part stack, and a working demo prioritized over a slower, more polished build. Speed to value over speed to impress.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be upfront about the limits: the policy corpus is summarized for the demo, though every file cites its real CMS source so the provenance is honest. The claim-impact field in the change detector is illustrative, not a real adjudication outcome. And this is single-analyst demo scale, not load-tested. Next steps, straight from my written report's recommended AI Governance Program: a bigger corpus with a labeled eval benchmark, human-in-the-loop review before any change reaches a rules engine, policy freshness and version tracking, and role-based access with full audit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watching. The full repo is at github.com/Iyman-Ahmed/clinical-rag-poc, and I'm at iyman12393@gmail.com if you'd like to talk through any part of the build. I'm Iyman Ahmed, and I appreciate you taking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4.xml"/><Relationship Id="rId6" Type="http://schemas.openxmlformats.org/officeDocument/2006/relationships/slide" Target="slide5.xml"/><Relationship Id="rId8" Type="http://schemas.openxmlformats.org/officeDocument/2006/relationships/slide" Target="slide7.xml"/><Relationship Id="rId10" Type="http://schemas.openxmlformats.org/officeDocument/2006/relationships/slide" Target="slide8.xml"/><Relationship Id="rId12" Type="http://schemas.openxmlformats.org/officeDocument/2006/relationships/slide" Target="slide9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image" Target="../media/image-2-6.png"/><Relationship Id="rId13" Type="http://schemas.openxmlformats.org/officeDocument/2006/relationships/image" Target="../media/image-2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Relationship Id="rId9" Type="http://schemas.openxmlformats.org/officeDocument/2006/relationships/image" Target="../media/image-8-7.png"/><Relationship Id="rId10" Type="http://schemas.openxmlformats.org/officeDocument/2006/relationships/image" Target="../media/image-8-8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hyperlink" Target="https://github.com/Iyman-Ahmed/clinical-rag-poc" TargetMode="External"/><Relationship Id="rId5" Type="http://schemas.openxmlformats.org/officeDocument/2006/relationships/hyperlink" Target="mailto:iyman12393@gmail.com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9240" y="336499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D1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Answer ONLY using the policy excerpts provided in the context. Cite the source filename in brackets after each claim, e.g. [telehealth_coverage_2025.md]. If the answer is not contained in the context, reply exactly: 'Not found in the provided policy documents.' Do not invent codes, dates, or rules.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149047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Policy RAG</a:t>
            </a:r>
            <a:endParaRPr lang="en-US" sz="5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96896"/>
            <a:ext cx="237744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52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Source-backed answers over healthcare policy — 100% local, $0 cost.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Iyman Ahmed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453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— Generative AI Research Engineer Intern Assessment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ideas. One demo.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80467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3794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34440" y="183794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Problem &amp; The Idea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55280" y="183794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21992"/>
            <a:ext cx="8046720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35000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34440" y="235000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 Works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955280" y="235000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34056"/>
            <a:ext cx="8046720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28620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34440" y="286207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Guardrail &amp; Change Detector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955280" y="28620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246120"/>
            <a:ext cx="8046720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337413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34440" y="337413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 &amp; Stack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955280" y="337413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758184"/>
            <a:ext cx="8046720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38862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34440" y="388620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955280" y="38862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270248"/>
            <a:ext cx="8046720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8640" y="43982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34440" y="439826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none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Cotiviti &amp; Roadmap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955280" y="43982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782312"/>
            <a:ext cx="8046720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→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cited answers beat slow manual lookups.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0" y="1965960"/>
            <a:ext cx="0" cy="2697480"/>
          </a:xfrm>
          <a:prstGeom prst="line">
            <a:avLst/>
          </a:prstGeom>
          <a:noFill/>
          <a:ln w="12700">
            <a:solidFill>
              <a:srgbClr val="E3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D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Payment-integrity analysts dig through dense CMS/Medicare PDFs by hand.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— and an LLM that invents a code or a rule is dangerous in a regulated, payment-bearing workflow.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D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9204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7432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screen: answers you can trust + change-spotting — every fact cited, all on your machine.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3657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points back to a real policy excerpt. Nothing leaves the machine, and nothing costs a dollar.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question becomes a trustworthy, cited answer.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14500" y="2491740"/>
            <a:ext cx="6583680" cy="0"/>
          </a:xfrm>
          <a:prstGeom prst="line">
            <a:avLst/>
          </a:prstGeom>
          <a:noFill/>
          <a:ln w="22225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0574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2300630"/>
            <a:ext cx="382219" cy="3822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" y="2057400"/>
            <a:ext cx="868680" cy="868680"/>
          </a:xfrm>
          <a:prstGeom prst="ellipse">
            <a:avLst/>
          </a:prstGeom>
          <a:ln w="19050">
            <a:solidFill>
              <a:srgbClr val="E3E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" y="1764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0060" y="30723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9718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your question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91740" y="20574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970" y="2300630"/>
            <a:ext cx="382219" cy="38221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91740" y="2057400"/>
            <a:ext cx="868680" cy="868680"/>
          </a:xfrm>
          <a:prstGeom prst="ellipse">
            <a:avLst/>
          </a:prstGeom>
          <a:ln w="19050">
            <a:solidFill>
              <a:srgbClr val="E3E5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91740" y="1764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125980" y="30723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94310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matching text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137660" y="20574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90" y="2300630"/>
            <a:ext cx="382219" cy="38221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37660" y="2057400"/>
            <a:ext cx="868680" cy="868680"/>
          </a:xfrm>
          <a:prstGeom prst="ellipse">
            <a:avLst/>
          </a:prstGeom>
          <a:ln w="19050">
            <a:solidFill>
              <a:srgbClr val="E3E5E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137660" y="1764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771900" y="30723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58902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only that text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783580" y="20574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810" y="2300630"/>
            <a:ext cx="382219" cy="382219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783580" y="2057400"/>
            <a:ext cx="868680" cy="868680"/>
          </a:xfrm>
          <a:prstGeom prst="ellipse">
            <a:avLst/>
          </a:prstGeom>
          <a:ln w="19050">
            <a:solidFill>
              <a:srgbClr val="E3E5E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83580" y="1764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17820" y="30723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23494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answers, local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429500" y="205740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10B981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730" y="2300630"/>
            <a:ext cx="382219" cy="38221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29500" y="1764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063740" y="30723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88086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the sources</a:t>
            </a:r>
            <a:endParaRPr lang="en-US" sz="9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33088"/>
            <a:ext cx="6400800" cy="1463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only answer from the policy text we found — so every answer is backed by a real source.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GUARDRAIL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refuses before it lies.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920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capital of France?”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96312"/>
            <a:ext cx="7498080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27889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found in the provided policy documents.”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payment integrity, a confident wrong answer costs more than an honest “I don’t know.” Abstention is a feature, not a failure.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CHANGE DETECTOR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changed between two versions of a policy — in plain terms.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F1F3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telehealth_2024.md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5361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1536192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F1F3F2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telehealth_2025.md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8528"/>
            <a:ext cx="8046720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1579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Originating site (non-behavioral telehealth)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903720" y="213969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21396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TIGHTENED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24963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OLD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eligible for a broad set of services under active COVID-era flexibilities.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7614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NEW   </a:t>
            </a:r>
            <a:pPr indent="0" marL="0">
              <a:buNone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to statutory geographic/originating-site rules once flexibilities lapse (behavioral health keeps home-site).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0266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claim impact: Home-billed non-behavioral claims could deny without an approved originating site on file.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73552"/>
            <a:ext cx="8046720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34930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Audio-only billing modifier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903720" y="34747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690372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CLARIFIED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48640" y="38313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OLD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with POS code + modifier 95 convention; no dedicated audio-only modifier.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40965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NEW   </a:t>
            </a:r>
            <a:pPr indent="0" marL="0">
              <a:buNone/>
            </a:pPr>
            <a:r>
              <a:rPr lang="en-US" sz="11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modifier 93 (audio-only) or FQ (RHC/FQHC) required alongside the POS code.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4361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claim impact: Claims still using modifier 95 for audio-only visits may now be miscoded.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08576"/>
            <a:ext cx="8046720" cy="1463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&amp;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small, swappable, well-known parts.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80467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5623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1F3F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961388"/>
            <a:ext cx="210312" cy="210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8379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Studio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0" y="18379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— no API keys, no per-token cost.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76856"/>
            <a:ext cx="8046720" cy="14630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24231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1F3F2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528316"/>
            <a:ext cx="210312" cy="2103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404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3657600" y="240487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for retrieval over policy chunks.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43784"/>
            <a:ext cx="8046720" cy="1463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48640" y="29900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1F3F2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3095244"/>
            <a:ext cx="210312" cy="2103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2971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3657600" y="29718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MB embeddings, CPU-friendly, free.</a:t>
            </a:r>
            <a:endParaRPr lang="en-US" sz="11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10712"/>
            <a:ext cx="8046720" cy="146304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48640" y="355701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1F3F2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" y="3662172"/>
            <a:ext cx="210312" cy="21031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188720" y="35387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+ custom UI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3657600" y="353872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backend, one dashboard, same rag/ core.</a:t>
            </a:r>
            <a:endParaRPr lang="en-US" sz="11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977640"/>
            <a:ext cx="8046720" cy="146304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48640" y="4370832"/>
            <a:ext cx="1737360" cy="365760"/>
          </a:xfrm>
          <a:prstGeom prst="roundRect">
            <a:avLst>
              <a:gd name="adj" fmla="val 40000"/>
            </a:avLst>
          </a:prstGeom>
          <a:solidFill>
            <a:srgbClr val="121212"/>
          </a:solidFill>
          <a:ln/>
        </p:spPr>
      </p:sp>
      <p:sp>
        <p:nvSpPr>
          <p:cNvPr id="26" name="Text 15"/>
          <p:cNvSpPr/>
          <p:nvPr/>
        </p:nvSpPr>
        <p:spPr>
          <a:xfrm>
            <a:off x="548640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050" dirty="0"/>
          </a:p>
        </p:txBody>
      </p:sp>
      <p:sp>
        <p:nvSpPr>
          <p:cNvPr id="27" name="Shape 16"/>
          <p:cNvSpPr/>
          <p:nvPr/>
        </p:nvSpPr>
        <p:spPr>
          <a:xfrm>
            <a:off x="2487168" y="4370832"/>
            <a:ext cx="1737360" cy="365760"/>
          </a:xfrm>
          <a:prstGeom prst="roundRect">
            <a:avLst>
              <a:gd name="adj" fmla="val 40000"/>
            </a:avLst>
          </a:prstGeom>
          <a:solidFill>
            <a:srgbClr val="121212"/>
          </a:solidFill>
          <a:ln/>
        </p:spPr>
      </p:sp>
      <p:sp>
        <p:nvSpPr>
          <p:cNvPr id="28" name="Text 17"/>
          <p:cNvSpPr/>
          <p:nvPr/>
        </p:nvSpPr>
        <p:spPr>
          <a:xfrm>
            <a:off x="2487168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4425696" y="4370832"/>
            <a:ext cx="1737360" cy="365760"/>
          </a:xfrm>
          <a:prstGeom prst="roundRect">
            <a:avLst>
              <a:gd name="adj" fmla="val 40000"/>
            </a:avLst>
          </a:prstGeom>
          <a:solidFill>
            <a:srgbClr val="121212"/>
          </a:solidFill>
          <a:ln/>
        </p:spPr>
      </p:sp>
      <p:sp>
        <p:nvSpPr>
          <p:cNvPr id="30" name="Text 19"/>
          <p:cNvSpPr/>
          <p:nvPr/>
        </p:nvSpPr>
        <p:spPr>
          <a:xfrm>
            <a:off x="4425696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050" dirty="0"/>
          </a:p>
        </p:txBody>
      </p:sp>
      <p:sp>
        <p:nvSpPr>
          <p:cNvPr id="31" name="Shape 20"/>
          <p:cNvSpPr/>
          <p:nvPr/>
        </p:nvSpPr>
        <p:spPr>
          <a:xfrm>
            <a:off x="6364224" y="4370832"/>
            <a:ext cx="1737360" cy="365760"/>
          </a:xfrm>
          <a:prstGeom prst="roundRect">
            <a:avLst>
              <a:gd name="adj" fmla="val 40000"/>
            </a:avLst>
          </a:prstGeom>
          <a:solidFill>
            <a:srgbClr val="121212"/>
          </a:solidFill>
          <a:ln/>
        </p:spPr>
      </p:sp>
      <p:sp>
        <p:nvSpPr>
          <p:cNvPr id="32" name="Text 21"/>
          <p:cNvSpPr/>
          <p:nvPr/>
        </p:nvSpPr>
        <p:spPr>
          <a:xfrm>
            <a:off x="6364224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questions, one guardrail.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4160520" cy="146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8562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Lumbar spine MRI — coverage rules?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097280" y="2167128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F1F3F2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1671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LCD L34220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8296"/>
            <a:ext cx="4160520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5146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ICD-10 for type 2 diabetes + CKD?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97280" y="2825496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F1F3F2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2825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E11.22 + N18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26664"/>
            <a:ext cx="4160520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" y="3191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31729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2025 telehealth policy.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097280" y="3483864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F1F3F2"/>
          </a:solidFill>
          <a:ln/>
        </p:spPr>
      </p:sp>
      <p:sp>
        <p:nvSpPr>
          <p:cNvPr id="18" name="Text 13"/>
          <p:cNvSpPr/>
          <p:nvPr/>
        </p:nvSpPr>
        <p:spPr>
          <a:xfrm>
            <a:off x="1097280" y="34838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summary</a:t>
            </a:r>
            <a:endParaRPr lang="en-US" sz="8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5032"/>
            <a:ext cx="4160520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38496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97280" y="38313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capital of France?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1097280" y="4142232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F1F3F2"/>
          </a:solidFill>
          <a:ln/>
        </p:spPr>
      </p:sp>
      <p:sp>
        <p:nvSpPr>
          <p:cNvPr id="23" name="Text 17"/>
          <p:cNvSpPr/>
          <p:nvPr/>
        </p:nvSpPr>
        <p:spPr>
          <a:xfrm>
            <a:off x="1097280" y="4142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guardrail: refused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43400"/>
            <a:ext cx="4160520" cy="146304"/>
          </a:xfrm>
          <a:prstGeom prst="rect">
            <a:avLst/>
          </a:prstGeom>
        </p:spPr>
      </p:pic>
      <p:sp>
        <p:nvSpPr>
          <p:cNvPr id="25" name="Screenshot Frame"/>
          <p:cNvSpPr/>
          <p:nvPr/>
        </p:nvSpPr>
        <p:spPr>
          <a:xfrm>
            <a:off x="5074920" y="1783080"/>
            <a:ext cx="35204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pic>
        <p:nvPicPr>
          <p:cNvPr id="26" name="Real cited answer (MRI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8366" y="1873080"/>
            <a:ext cx="2173548" cy="1560000"/>
          </a:xfrm>
          <a:prstGeom prst="rect">
            <a:avLst/>
          </a:prstGeom>
        </p:spPr>
      </p:pic>
      <p:pic>
        <p:nvPicPr>
          <p:cNvPr id="27" name="Real guardrail refusa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4920" y="3513080"/>
            <a:ext cx="3340440" cy="9986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FITS COTIVITI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mirrors how a payment-integrity analyst actually works.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8046720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751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1F3F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2123237"/>
            <a:ext cx="252374" cy="2523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20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cited answers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343400" y="19202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 a living policy library compresses from minutes to seconds.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8046720" cy="14630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28163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1F3F2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2964485"/>
            <a:ext cx="252374" cy="2523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27614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guardrail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4343400" y="27614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instead of fabricating a code or coverage rule — compliance by design.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38144"/>
            <a:ext cx="8046720" cy="1463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48640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1F3F2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3" y="3805733"/>
            <a:ext cx="252374" cy="2523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71600" y="36027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auditable deltas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4343400" y="360273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Tightened/loosened/added/removed changes feed rules engines and reviewers alike.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79392"/>
            <a:ext cx="8046720" cy="14630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PHILOSOPHY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Satisfice. Don’t over-build.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1F3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0967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60604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1F3F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99" y="209671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60604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to run, end to end.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6344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1F3F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9" y="209671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stack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well-known parts.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72084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1F3F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209671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value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2084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demo, fast.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38728"/>
            <a:ext cx="8046720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to the assessment’s stated bar: satisfice to maximize speed to value.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HONESTY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about today’s limits, deliberate about what’s next.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0" y="1828800"/>
            <a:ext cx="0" cy="2834640"/>
          </a:xfrm>
          <a:prstGeom prst="line">
            <a:avLst/>
          </a:prstGeom>
          <a:noFill/>
          <a:ln w="12700">
            <a:solidFill>
              <a:srgbClr val="E3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BEING HONEST ABOUT IT — NOW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is a summarized excerpt, but every file cites its real CMS source (LCD L34220, MLN901705, ICD-10-CM).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“Claim impact” in the Change Detector is an illustrative walkthrough, not a real adjudication result.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Single-analyst demo scale — not yet load-tested or benchmarked.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GOES NEXT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92040" y="219456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corpus + a labeled eval benchmark for retrieval precision.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before any change feeds a rules engine.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freshness / version tracking so answers can’t go stale silently.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full audit logging on every answer.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Policy RAG — cited answers, a working guardrail, and a structured change detector, built local and free.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80360"/>
            <a:ext cx="7498080" cy="18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315468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262A2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1" y="3241091"/>
            <a:ext cx="211226" cy="2112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3154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none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github.com/Iyman-Ahmed/clinical-rag-poc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1520" y="363931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262A2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3735324"/>
            <a:ext cx="192024" cy="1920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6393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none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iyman12393@gmail.com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Iyman Ahmed  •  Cotiviti — GenAI Research Engineer Intern Assessment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POLICY RAG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Policy RAG</dc:title>
  <dc:subject>PptxGenJS Presentation</dc:subject>
  <dc:creator>Iyman Ahmed</dc:creator>
  <cp:lastModifiedBy>Iyman Ahmed</cp:lastModifiedBy>
  <cp:revision>1</cp:revision>
  <dcterms:created xsi:type="dcterms:W3CDTF">2026-07-01T19:09:33Z</dcterms:created>
  <dcterms:modified xsi:type="dcterms:W3CDTF">2026-07-01T19:09:33Z</dcterms:modified>
</cp:coreProperties>
</file>