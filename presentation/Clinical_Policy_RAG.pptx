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148840"/>
            <a:ext cx="822960" cy="822960"/>
          </a:xfrm>
          <a:prstGeom prst="roundRect">
            <a:avLst>
              <a:gd name="adj" fmla="val 24444"/>
            </a:avLst>
          </a:prstGeom>
          <a:solidFill>
            <a:srgbClr val="6D28D9"/>
          </a:solidFill>
          <a:ln/>
          <a:effectLst>
            <a:outerShdw sx="100000" sy="100000" kx="0" ky="0" algn="bl" rotWithShape="0" blurRad="203200" dist="50800" dir="16200000">
              <a:srgbClr val="DB2777">
                <a:alpha val="28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66928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85216" y="1508760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44475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 OF CONCEPT · COTIVITI GENAI INTERN ASSESSMENT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3063240"/>
            <a:ext cx="10972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Policy RAG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566928" y="4114800"/>
            <a:ext cx="10241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Source-grounded answers, claim adjudication, and a working guardrail over healthcare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&amp; coding policy — 100% local, $0 cost.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66928" y="5257800"/>
            <a:ext cx="3657600" cy="0"/>
          </a:xfrm>
          <a:prstGeom prst="line">
            <a:avLst/>
          </a:prstGeom>
          <a:noFill/>
          <a:ln w="12700">
            <a:solidFill>
              <a:srgbClr val="E4E7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5440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Iyman Ahmed</a:t>
            </a:r>
            <a:pPr indent="0" marL="0">
              <a:buNone/>
            </a:pPr>
            <a:r>
              <a:rPr lang="en-US" sz="14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Topic 3 — Content Management in Health Care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5852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github.com/Iyman-Ahmed/clinical-rag-poc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TOPIC — CONTENT MANAGEMENT IN HEALTH CARE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is dense, always changing, and unforgiving.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66928" y="1783080"/>
            <a:ext cx="1105783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Payment-integrity analysts read long CMS and Medicare policy documents to answer routine questions — is this service covered, which code applies, what changed this year. Getting it wrong is costly. And an AI that confidently invents a code or a coverage rule isn’t a shortcut — it’s a compliance liability.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66928" y="3200400"/>
            <a:ext cx="3503066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59536" y="3520440"/>
            <a:ext cx="128016" cy="128016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0" name="Text 8"/>
          <p:cNvSpPr/>
          <p:nvPr/>
        </p:nvSpPr>
        <p:spPr>
          <a:xfrm>
            <a:off x="859536" y="3703320"/>
            <a:ext cx="295442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&amp; coding policies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59536" y="4434840"/>
            <a:ext cx="295442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LCDs, NCDs, CPT/ICD-10 rules that decide payment.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44314" y="3200400"/>
            <a:ext cx="3503066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36922" y="3520440"/>
            <a:ext cx="128016" cy="128016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14" name="Text 12"/>
          <p:cNvSpPr/>
          <p:nvPr/>
        </p:nvSpPr>
        <p:spPr>
          <a:xfrm>
            <a:off x="4636922" y="3703320"/>
            <a:ext cx="295442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practice guidelines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636922" y="4434840"/>
            <a:ext cx="295442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criteria for medical necessity.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21701" y="3200400"/>
            <a:ext cx="3503066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4309" y="3520440"/>
            <a:ext cx="128016" cy="12801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8414309" y="3703320"/>
            <a:ext cx="295442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Payer–provider contracts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414309" y="4434840"/>
            <a:ext cx="295442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that must be read, compared, and enforced.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THE FIELD IS GOING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keyword search to grounded reasoning.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66928" y="1965960"/>
            <a:ext cx="530032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41248" y="22219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27048" y="2221992"/>
            <a:ext cx="411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 → LLMs &amp; LMMs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27048" y="2679192"/>
            <a:ext cx="4065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Extraction, summarization and coding shift from brittle rules to general-purpose models.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324448" y="1965960"/>
            <a:ext cx="530032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98768" y="22219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84568" y="2221992"/>
            <a:ext cx="411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as the trust layer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84568" y="2679192"/>
            <a:ext cx="4065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grounds every answer in the source text, with citations — not model memory.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023360"/>
            <a:ext cx="530032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42793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27048" y="4279392"/>
            <a:ext cx="411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Policy-as-code &amp; agents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27048" y="4736592"/>
            <a:ext cx="4065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policy is converted into rules, features, and models; agents chain the reasoning.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24448" y="4023360"/>
            <a:ext cx="530032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98768" y="42793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284568" y="4279392"/>
            <a:ext cx="411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auditability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84568" y="4736592"/>
            <a:ext cx="4065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Refusal, provenance and evaluation are now table stakes for healthcare AI.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PROOF OF CONCEPT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grounded policy assistant you can actually audit.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66928" y="178308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small system that answers policy questions with citations, judges real claims against coverage rules, and flags what changed between policy versions — with a guardrail that refuses when the evidence isn’t there.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66928" y="297180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97180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Cited Q&amp;A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15768" y="2971800"/>
            <a:ext cx="30175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15768" y="297180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Hallucination guardrail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61888" y="29718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61888" y="297180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 adjudication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3538728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538728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Multi-policy reasoning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721608" y="3538728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21608" y="3538728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change detector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297680"/>
            <a:ext cx="350306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66928" y="4480560"/>
            <a:ext cx="350306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566928" y="5138928"/>
            <a:ext cx="350306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5C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 / inference cost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44314" y="4297680"/>
            <a:ext cx="350306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344314" y="4480560"/>
            <a:ext cx="350306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4344314" y="5138928"/>
            <a:ext cx="350306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5C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&amp; private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21701" y="4297680"/>
            <a:ext cx="350306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121701" y="4480560"/>
            <a:ext cx="350306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8121701" y="5138928"/>
            <a:ext cx="350306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5C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corpora indexed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→ ground → cite. Nothing is invented.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66928" y="2468880"/>
            <a:ext cx="188238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52088" y="272491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1ECFD"/>
          </a:solidFill>
          <a:ln w="15875">
            <a:solidFill>
              <a:srgbClr val="6D28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52088" y="272491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66928" y="3364992"/>
            <a:ext cx="18823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2648" y="3675888"/>
            <a:ext cx="179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476744" y="2468880"/>
            <a:ext cx="365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860792" y="2468880"/>
            <a:ext cx="188238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45952" y="272491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1ECFD"/>
          </a:solidFill>
          <a:ln w="15875">
            <a:solidFill>
              <a:srgbClr val="6D28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45952" y="272491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860792" y="3364992"/>
            <a:ext cx="18823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06512" y="3675888"/>
            <a:ext cx="179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vectors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770608" y="2468880"/>
            <a:ext cx="365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154656" y="2468880"/>
            <a:ext cx="188238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839816" y="272491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1ECFD"/>
          </a:solidFill>
          <a:ln w="15875">
            <a:solidFill>
              <a:srgbClr val="6D28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39816" y="272491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154656" y="3364992"/>
            <a:ext cx="18823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00376" y="3675888"/>
            <a:ext cx="179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source docs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064472" y="2468880"/>
            <a:ext cx="365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7448520" y="2468880"/>
            <a:ext cx="188238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3679" y="272491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1ECFD"/>
          </a:solidFill>
          <a:ln w="15875">
            <a:solidFill>
              <a:srgbClr val="6D28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133679" y="272491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448520" y="3364992"/>
            <a:ext cx="18823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494240" y="3675888"/>
            <a:ext cx="179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358335" y="2468880"/>
            <a:ext cx="365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AA0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742383" y="2468880"/>
            <a:ext cx="188238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427543" y="272491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1ECFD"/>
          </a:solidFill>
          <a:ln w="15875">
            <a:solidFill>
              <a:srgbClr val="6D28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427543" y="272491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742383" y="3364992"/>
            <a:ext cx="18823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788103" y="3675888"/>
            <a:ext cx="179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cited sources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66928" y="452628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only allowed to answer from the retrieved policy text — so every answer is grounded, traceable, and free of invented codes or dates.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&amp; STACK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small, swappable, well-known parts.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66928" y="1965960"/>
            <a:ext cx="255872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240280"/>
            <a:ext cx="128016" cy="128016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432304"/>
            <a:ext cx="210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 Studio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22960" y="3154680"/>
            <a:ext cx="20832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— no API keys, no per-token cost.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99968" y="1965960"/>
            <a:ext cx="255872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6000" y="2240280"/>
            <a:ext cx="128016" cy="128016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3656000" y="2432304"/>
            <a:ext cx="210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ChromaDB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656000" y="3154680"/>
            <a:ext cx="20832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vector store over policy chunks.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1965960"/>
            <a:ext cx="255872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89040" y="2240280"/>
            <a:ext cx="128016" cy="128016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7" name="Text 15"/>
          <p:cNvSpPr/>
          <p:nvPr/>
        </p:nvSpPr>
        <p:spPr>
          <a:xfrm>
            <a:off x="6489040" y="2432304"/>
            <a:ext cx="210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all-MiniLM-L6-v2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89040" y="3154680"/>
            <a:ext cx="20832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MB embeddings, CPU-friendly, free.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66047" y="1965960"/>
            <a:ext cx="255872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22079" y="2240280"/>
            <a:ext cx="128016" cy="128016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1" name="Text 19"/>
          <p:cNvSpPr/>
          <p:nvPr/>
        </p:nvSpPr>
        <p:spPr>
          <a:xfrm>
            <a:off x="9322079" y="2432304"/>
            <a:ext cx="210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dashboard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322079" y="3154680"/>
            <a:ext cx="20832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backend, one UI, same rag/ core.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8006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800600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874520" y="4800600"/>
            <a:ext cx="93268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74520" y="4800600"/>
            <a:ext cx="932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063240" y="4800600"/>
            <a:ext cx="128930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63240" y="4800600"/>
            <a:ext cx="12893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08576" y="4800600"/>
            <a:ext cx="188366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08576" y="4800600"/>
            <a:ext cx="18836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REPRODUCIBLE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CITED ANSWER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 in the answer, traced to a source.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24194" y="1591056"/>
            <a:ext cx="5743308" cy="4178808"/>
          </a:xfrm>
          <a:prstGeom prst="roundRect">
            <a:avLst>
              <a:gd name="adj" fmla="val 1751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39700" dist="38100" dir="5400000">
              <a:srgbClr val="8A93A6">
                <a:alpha val="30000"/>
              </a:srgbClr>
            </a:outerShdw>
          </a:effectLst>
        </p:spPr>
      </p:sp>
      <p:pic>
        <p:nvPicPr>
          <p:cNvPr id="8" name="Image 0" descr="/Users/iymanahmed/Documents/New project/clinical-rag-poc/presentation/shots/answer_mr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24778" y="1691640"/>
            <a:ext cx="55421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i="1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 — “Coverage requirements for a lumbar spine MRI?” → grounded answer, cited to LCD L34220.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THE GUARDRAIL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refuses before it lies.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66344" y="1904099"/>
            <a:ext cx="11259007" cy="3507001"/>
          </a:xfrm>
          <a:prstGeom prst="roundRect">
            <a:avLst>
              <a:gd name="adj" fmla="val 2086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39700" dist="38100" dir="5400000">
              <a:srgbClr val="8A93A6">
                <a:alpha val="30000"/>
              </a:srgbClr>
            </a:outerShdw>
          </a:effectLst>
        </p:spPr>
      </p:sp>
      <p:pic>
        <p:nvPicPr>
          <p:cNvPr id="8" name="Image 0" descr="/Users/iymanahmed/Documents/New project/clinical-rag-poc/presentation/shots/guardr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004683"/>
            <a:ext cx="11057839" cy="330583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i="1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 — asked “What is the capital of France?” → negative relevance → the system says so instead of guessing.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MULTI-POLICY REASONING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combines the rules to reach a determination.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66344" y="2072417"/>
            <a:ext cx="11259007" cy="3078925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39700" dist="38100" dir="5400000">
              <a:srgbClr val="8A93A6">
                <a:alpha val="30000"/>
              </a:srgbClr>
            </a:outerShdw>
          </a:effectLst>
        </p:spPr>
      </p:sp>
      <p:pic>
        <p:nvPicPr>
          <p:cNvPr id="8" name="Image 0" descr="/Users/iymanahmed/Documents/New project/clinical-rag-poc/presentation/shots/scenario_2week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173001"/>
            <a:ext cx="11057839" cy="287775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i="1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 — 2 weeks of pain, no red flags, no conservative care. A reviewer flagged this exact case; retrieval + prompt fixes now reason it to a grounded “No.”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CLAIM ADJUDICATION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CLM-2041 — </a:t>
            </a:r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Payable.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328933" y="1591056"/>
            <a:ext cx="5533828" cy="4178808"/>
          </a:xfrm>
          <a:prstGeom prst="roundRect">
            <a:avLst>
              <a:gd name="adj" fmla="val 1751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39700" dist="38100" dir="5400000">
              <a:srgbClr val="8A93A6">
                <a:alpha val="30000"/>
              </a:srgbClr>
            </a:outerShdw>
          </a:effectLst>
        </p:spPr>
      </p:sp>
      <p:pic>
        <p:nvPicPr>
          <p:cNvPr id="8" name="Image 0" descr="/Users/iymanahmed/Documents/New project/clinical-rag-poc/presentation/shots/claim_2041_appro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9517" y="1691640"/>
            <a:ext cx="533266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i="1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Indication, symptom duration, and conservative care are all documented — the tool confirms medical necessity and cites the policy line.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CLAIM ADJUDICATION · CLM-2042 = FLAG / DENY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CLM-2042 — </a:t>
            </a:r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 / Deny.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984658" y="1417320"/>
            <a:ext cx="4222378" cy="4828032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39700" dist="38100" dir="5400000">
              <a:srgbClr val="8A93A6">
                <a:alpha val="30000"/>
              </a:srgbClr>
            </a:outerShdw>
          </a:effectLst>
        </p:spPr>
      </p:sp>
      <p:pic>
        <p:nvPicPr>
          <p:cNvPr id="8" name="Image 0" descr="/Users/iymanahmed/Documents/New project/clinical-rag-poc/presentation/shots/claim_2042_den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5242" y="1517904"/>
            <a:ext cx="4021210" cy="46268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POLICY CHANGE DETECTOR · telehealth 2024 → 2025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revision becomes a structured, plain-English diff.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310214" y="1417320"/>
            <a:ext cx="3571266" cy="4828032"/>
          </a:xfrm>
          <a:prstGeom prst="roundRect">
            <a:avLst>
              <a:gd name="adj" fmla="val 2048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39700" dist="38100" dir="5400000">
              <a:srgbClr val="8A93A6">
                <a:alpha val="30000"/>
              </a:srgbClr>
            </a:outerShdw>
          </a:effectLst>
        </p:spPr>
      </p:sp>
      <p:pic>
        <p:nvPicPr>
          <p:cNvPr id="8" name="Image 0" descr="/Users/iymanahmed/Documents/New project/clinical-rag-poc/presentation/shots/change_dete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0798" y="1517904"/>
            <a:ext cx="3370098" cy="46268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COTIVITI — OPPORTUNITY, RISK, RECOMMENDATION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creates value — and where to be careful.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5300320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41248" y="2084832"/>
            <a:ext cx="475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OPPORTUNITIES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59536" y="2633472"/>
            <a:ext cx="91440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1078992" y="2542032"/>
            <a:ext cx="452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compresses from minutes to seconds, every answer cited.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59536" y="3200400"/>
            <a:ext cx="91440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1078992" y="3108960"/>
            <a:ext cx="452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Claim-vs-policy adjudication with the evidence shown — the core workflow.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59536" y="3767328"/>
            <a:ext cx="91440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1078992" y="3675888"/>
            <a:ext cx="452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monitoring of policy revisions across a living rule library.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24448" y="1874520"/>
            <a:ext cx="5300320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98768" y="2084832"/>
            <a:ext cx="475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THREATS / RISKS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617056" y="2633472"/>
            <a:ext cx="91440" cy="914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6836512" y="2542032"/>
            <a:ext cx="452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Hallucinated codes or rules — a compliance liability if ungrounded.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617056" y="3200400"/>
            <a:ext cx="91440" cy="914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0" name="Text 18"/>
          <p:cNvSpPr/>
          <p:nvPr/>
        </p:nvSpPr>
        <p:spPr>
          <a:xfrm>
            <a:off x="6836512" y="3108960"/>
            <a:ext cx="452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policy: answers must track the current source of truth.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617056" y="3767328"/>
            <a:ext cx="91440" cy="914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2" name="Text 20"/>
          <p:cNvSpPr/>
          <p:nvPr/>
        </p:nvSpPr>
        <p:spPr>
          <a:xfrm>
            <a:off x="6836512" y="3675888"/>
            <a:ext cx="452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Over-automation without a human in the loop on payment decisions.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34840"/>
            <a:ext cx="11057839" cy="1234440"/>
          </a:xfrm>
          <a:prstGeom prst="roundRect">
            <a:avLst>
              <a:gd name="adj" fmla="val 5185"/>
            </a:avLst>
          </a:prstGeom>
          <a:solidFill>
            <a:srgbClr val="F1ECFD"/>
          </a:solidFill>
          <a:ln w="12700">
            <a:solidFill>
              <a:srgbClr val="E4E7ED"/>
            </a:solidFill>
            <a:prstDash val="solid"/>
          </a:ln>
          <a:effectLst>
            <a:outerShdw sx="100000" sy="100000" kx="0" ky="0" algn="bl" rotWithShape="0" blurRad="101600" dist="25400" dir="5400000">
              <a:srgbClr val="9AA3B2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66928" y="4434840"/>
            <a:ext cx="82296" cy="1234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617720"/>
            <a:ext cx="105091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86968" y="4937760"/>
            <a:ext cx="1041775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61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 retrieval-grounded, human-in-the-loop policy assistant on one bounded coding domain. Measure analyst time-to-answer and citation accuracy before widening scope.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HONESTY &amp;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about today’s limits, deliberate about what’s next.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15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66928" y="1874520"/>
            <a:ext cx="530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DB27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BEING HONEST — NOW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0592"/>
            <a:ext cx="91440" cy="91440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331720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claims (CLM-2041/2042) are synthetic — no real patient data.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91440" cy="91440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3172968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is a summarized excerpt, but every file cites its real CMS source.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91440" cy="91440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14216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Within-policy reasoning works; reasoning across separate documents still benefits from reranking or agentic retrieval.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24448" y="1874520"/>
            <a:ext cx="530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THIS GOES NEXT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324448" y="2450592"/>
            <a:ext cx="91440" cy="91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6" name="Text 14"/>
          <p:cNvSpPr/>
          <p:nvPr/>
        </p:nvSpPr>
        <p:spPr>
          <a:xfrm>
            <a:off x="6562192" y="2331720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corpus + a labeled eval benchmark for retrieval precision.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24448" y="3291840"/>
            <a:ext cx="91440" cy="91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8" name="Text 16"/>
          <p:cNvSpPr/>
          <p:nvPr/>
        </p:nvSpPr>
        <p:spPr>
          <a:xfrm>
            <a:off x="6562192" y="3172968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cross-encoder reranker for multi-document questions.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24448" y="4133088"/>
            <a:ext cx="91440" cy="91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0" name="Text 18"/>
          <p:cNvSpPr/>
          <p:nvPr/>
        </p:nvSpPr>
        <p:spPr>
          <a:xfrm>
            <a:off x="6562192" y="4014216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review before any adjudication reaches a rules engine.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324448" y="4974336"/>
            <a:ext cx="91440" cy="91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2" name="Text 20"/>
          <p:cNvSpPr/>
          <p:nvPr/>
        </p:nvSpPr>
        <p:spPr>
          <a:xfrm>
            <a:off x="6562192" y="4855464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and full audit logging on every answer.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286000"/>
            <a:ext cx="146304" cy="1463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22219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26974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6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Policy RAG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66928" y="3703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answers, claim adjudication, and a working guardrail — built local and free.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4526280"/>
            <a:ext cx="3657600" cy="0"/>
          </a:xfrm>
          <a:prstGeom prst="line">
            <a:avLst/>
          </a:prstGeom>
          <a:noFill/>
          <a:ln w="12700">
            <a:solidFill>
              <a:srgbClr val="E4E7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47091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250" b="1" dirty="0">
                <a:solidFill>
                  <a:srgbClr val="1617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github.com/Iyman-Ahmed/clinical-rag-poc
</a:t>
            </a:r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5C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iyman12393@gmail.com
</a:t>
            </a:r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9AA0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Iyman Ahmed  ·  Cotiviti — GenAI Research Engineer Intern Assessment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Clinical Policy RAG</dc:title>
  <dc:subject>PptxGenJS Presentation</dc:subject>
  <dc:creator>Iyman Ahmed</dc:creator>
  <cp:lastModifiedBy>Iyman Ahmed</cp:lastModifiedBy>
  <cp:revision>1</cp:revision>
  <dcterms:created xsi:type="dcterms:W3CDTF">2026-07-03T18:19:04Z</dcterms:created>
  <dcterms:modified xsi:type="dcterms:W3CDTF">2026-07-03T18:19:04Z</dcterms:modified>
</cp:coreProperties>
</file>