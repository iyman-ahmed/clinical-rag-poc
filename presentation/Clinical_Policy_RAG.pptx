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148840"/>
            <a:ext cx="822960" cy="822960"/>
          </a:xfrm>
          <a:prstGeom prst="roundRect">
            <a:avLst>
              <a:gd name="adj" fmla="val 24444"/>
            </a:avLst>
          </a:prstGeom>
          <a:solidFill>
            <a:srgbClr val="8B5CF6"/>
          </a:solidFill>
          <a:ln/>
          <a:effectLst>
            <a:outerShdw sx="100000" sy="100000" kx="0" ky="0" algn="bl" rotWithShape="0" blurRad="279400" dist="50800" dir="16200000">
              <a:srgbClr val="E1348B">
                <a:alpha val="5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6692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508760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4447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 OF CONCEPT · COTIVITI GENAI INTERN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306324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Policy RAG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66928" y="411480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Source-grounded answers, claim adjudication, and a working guardrail over healthcare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coding policy — 100% local, $0 cost.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5257800"/>
            <a:ext cx="3657600" cy="0"/>
          </a:xfrm>
          <a:prstGeom prst="line">
            <a:avLst/>
          </a:prstGeom>
          <a:noFill/>
          <a:ln w="12700">
            <a:solidFill>
              <a:srgbClr val="2424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5440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Iyman Ahmed</a:t>
            </a:r>
            <a:pPr indent="0" marL="0">
              <a:buNone/>
            </a:pPr>
            <a:r>
              <a:rPr lang="en-US" sz="14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Topic 3 — Content Management in Health Care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5852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github.com/Iyman-Ahmed/clinical-rag-poc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TOPIC — CONTENT MANAGEMENT IN HEALTH CARE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is dense, always changing, and unforgiving.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105783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Payment-integrity analysts read long CMS and Medicare policy documents to answer routine questions — is this service covered, which code applies, what changed this year. Getting it wrong is costly. And an AI that confidently invents a code or a coverage rule isn’t a shortcut — it’s a compliance liability.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" y="3520440"/>
            <a:ext cx="128016" cy="12801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&amp; coding policies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59536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LCDs, NCDs, CPT/ICD-10 rules that decide payment.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4314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36922" y="3520440"/>
            <a:ext cx="128016" cy="128016"/>
          </a:xfrm>
          <a:prstGeom prst="rect">
            <a:avLst/>
          </a:prstGeom>
          <a:solidFill>
            <a:srgbClr val="E1348B"/>
          </a:solidFill>
          <a:ln/>
        </p:spPr>
      </p:sp>
      <p:sp>
        <p:nvSpPr>
          <p:cNvPr id="14" name="Text 12"/>
          <p:cNvSpPr/>
          <p:nvPr/>
        </p:nvSpPr>
        <p:spPr>
          <a:xfrm>
            <a:off x="4636922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practice guidelines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636922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criteria for medical necessity.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21701" y="3200400"/>
            <a:ext cx="3503066" cy="2194560"/>
          </a:xfrm>
          <a:prstGeom prst="roundRect">
            <a:avLst>
              <a:gd name="adj" fmla="val 2917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4309" y="35204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8414309" y="3703320"/>
            <a:ext cx="295442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Payer–provider contracts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414309" y="4434840"/>
            <a:ext cx="29544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that must be read, compared, and enforced.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THE FIELD IS GOING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keyword search to grounded reasoning.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221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27048" y="22219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→ LLMs &amp; LMMs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27048" y="26791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Extraction, summarization and coding shift from brittle rules to general-purpose models.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24448" y="19659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8768" y="22219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84568" y="22219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as the trust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84568" y="26791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grounds every answer in the source text, with citations — not model memory.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2793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27048" y="42793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Policy-as-code &amp; agents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27048" y="47365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policy is converted into rules, features, and models; agents chain the reasoning.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24448" y="4023360"/>
            <a:ext cx="5300320" cy="1737360"/>
          </a:xfrm>
          <a:prstGeom prst="roundRect">
            <a:avLst>
              <a:gd name="adj" fmla="val 3684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98768" y="427939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84568" y="4279392"/>
            <a:ext cx="411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auditability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84568" y="4736592"/>
            <a:ext cx="4065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Refusal, provenance and evaluation are now table stakes for healthcare AI.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PROOF OF CONCEPT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grounded policy assistant you can actually audit.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system that answers policy questions with citations, judges real claims against coverage rules, and flags what changed between policy versions — with a guardrail that refuses when the evidence isn’t there.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66928" y="29718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97180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Cited Q&amp;A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15768" y="297180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E13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15768" y="297180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Hallucination guardrail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61888" y="29718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297180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Claim adjudication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538728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53872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Multi-policy reasoning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21608" y="3538728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21608" y="353872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change detector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CA0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/ inference cost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44314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4314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344314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CA0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&amp; private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21701" y="4297680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21701" y="4480560"/>
            <a:ext cx="350306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8121701" y="5138928"/>
            <a:ext cx="35030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CA0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corpora indexed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→ ground → cite. Nothing is invented.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2088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E0E15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2088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2648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76744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860792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45952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E0E15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5952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60792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06512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vectors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70608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154656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39816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E0E15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9816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54656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00376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source docs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064472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448520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3679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E0E15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33679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48520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94240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358335" y="2468880"/>
            <a:ext cx="365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742383" y="2468880"/>
            <a:ext cx="1882384" cy="1554480"/>
          </a:xfrm>
          <a:prstGeom prst="roundRect">
            <a:avLst>
              <a:gd name="adj" fmla="val 4118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427543" y="272491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E0E15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7543" y="27249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742383" y="3364992"/>
            <a:ext cx="18823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788103" y="3675888"/>
            <a:ext cx="179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cited sources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45262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only allowed to answer from the retrieved policy text — so every answer is grounded, traceable, and free of invented codes or dates.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&amp;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small, swappable, well-known parts.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240280"/>
            <a:ext cx="128016" cy="12801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 Studio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— no API keys, no per-token cost.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9996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6000" y="2240280"/>
            <a:ext cx="128016" cy="12801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65600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ChromaDB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5600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vector store over policy chunks.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89040" y="2240280"/>
            <a:ext cx="128016" cy="12801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6489040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all-MiniLM-L6-v2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9040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MB embeddings, CPU-friendly, free.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66047" y="1965960"/>
            <a:ext cx="2558720" cy="2286000"/>
          </a:xfrm>
          <a:prstGeom prst="roundRect">
            <a:avLst>
              <a:gd name="adj" fmla="val 2800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2079" y="2240280"/>
            <a:ext cx="128016" cy="12801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9322079" y="2432304"/>
            <a:ext cx="210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dashboard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322079" y="3154680"/>
            <a:ext cx="20832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backend, one UI, same rag/ core.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8006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E13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80060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874520" y="4800600"/>
            <a:ext cx="932688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E1348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74520" y="4800600"/>
            <a:ext cx="9326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63240" y="4800600"/>
            <a:ext cx="1289304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E13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63240" y="4800600"/>
            <a:ext cx="12893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08576" y="4800600"/>
            <a:ext cx="1883664" cy="384048"/>
          </a:xfrm>
          <a:prstGeom prst="roundRect">
            <a:avLst>
              <a:gd name="adj" fmla="val 50000"/>
            </a:avLst>
          </a:prstGeom>
          <a:solidFill>
            <a:srgbClr val="16161C"/>
          </a:solidFill>
          <a:ln w="12700">
            <a:solidFill>
              <a:srgbClr val="E13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4800600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CITED ANSWER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in the answer, traced to a source.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24194" y="1591056"/>
            <a:ext cx="5743308" cy="4178808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24242E"/>
            </a:solidFill>
            <a:prstDash val="solid"/>
          </a:ln>
          <a:effectLst>
            <a:outerShdw sx="100000" sy="100000" kx="0" ky="0" algn="bl" rotWithShape="0" blurRad="2032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Users/iymanahmed/Documents/New project/clinical-rag-poc/presentation/shots/answer_m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4778" y="1691640"/>
            <a:ext cx="55421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“Coverage requirements for a lumbar spine MRI?” → grounded answer, cited to LCD L34220.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THE GUARDRAIL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refuses before it lies.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6344" y="1904099"/>
            <a:ext cx="11259007" cy="3507001"/>
          </a:xfrm>
          <a:prstGeom prst="roundRect">
            <a:avLst>
              <a:gd name="adj" fmla="val 2086"/>
            </a:avLst>
          </a:prstGeom>
          <a:solidFill>
            <a:srgbClr val="FFFFFF"/>
          </a:solidFill>
          <a:ln w="12700">
            <a:solidFill>
              <a:srgbClr val="24242E"/>
            </a:solidFill>
            <a:prstDash val="solid"/>
          </a:ln>
          <a:effectLst>
            <a:outerShdw sx="100000" sy="100000" kx="0" ky="0" algn="bl" rotWithShape="0" blurRad="2032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Users/iymanahmed/Documents/New project/clinical-rag-poc/presentation/shots/guardr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04683"/>
            <a:ext cx="11057839" cy="330583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asked “What is the capital of France?” → negative relevance → the system says so instead of guessing.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MULTI-POLICY REASONING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combines the rules to reach a determination.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66344" y="2072417"/>
            <a:ext cx="11259007" cy="3078925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24242E"/>
            </a:solidFill>
            <a:prstDash val="solid"/>
          </a:ln>
          <a:effectLst>
            <a:outerShdw sx="100000" sy="100000" kx="0" ky="0" algn="bl" rotWithShape="0" blurRad="2032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Users/iymanahmed/Documents/New project/clinical-rag-poc/presentation/shots/scenario_2week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173001"/>
            <a:ext cx="11057839" cy="287775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2 weeks of pain, no red flags, no conservative care. A reviewer flagged this exact case; retrieval + prompt fixes now reason it to a grounded “No.”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CLAIM ADJUDICATION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CLM-2041 — </a:t>
            </a:r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Payable.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28933" y="1591056"/>
            <a:ext cx="5533828" cy="4178808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24242E"/>
            </a:solidFill>
            <a:prstDash val="solid"/>
          </a:ln>
          <a:effectLst>
            <a:outerShdw sx="100000" sy="100000" kx="0" ky="0" algn="bl" rotWithShape="0" blurRad="2032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Users/iymanahmed/Documents/New project/clinical-rag-poc/presentation/shots/claim_2041_appr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517" y="1691640"/>
            <a:ext cx="533266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Indication, symptom duration, and conservative care are all documented — the tool confirms medical necessity and cites the policy line.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CLAIM ADJUDICATION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CLM-2042 — </a:t>
            </a:r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0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/ Deny.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27044" y="1545336"/>
            <a:ext cx="3737608" cy="4270248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24242E"/>
            </a:solidFill>
            <a:prstDash val="solid"/>
          </a:ln>
          <a:effectLst>
            <a:outerShdw sx="100000" sy="100000" kx="0" ky="0" algn="bl" rotWithShape="0" blurRad="2032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Users/iymanahmed/Documents/New project/clinical-rag-poc/presentation/shots/claim_2042_de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7628" y="1645920"/>
            <a:ext cx="3536440" cy="4069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policy, same prompt, different claim — no conservative care documented, so the tool flags the exact missing requirement.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· POLICY CHANGE DETECTOR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revision becomes a structured, plain-English diff.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464964" y="1499616"/>
            <a:ext cx="3231592" cy="4361688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24242E"/>
            </a:solidFill>
            <a:prstDash val="solid"/>
          </a:ln>
          <a:effectLst>
            <a:outerShdw sx="100000" sy="100000" kx="0" ky="0" algn="bl" rotWithShape="0" blurRad="203200" dist="508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Users/iymanahmed/Documents/New project/clinical-rag-poc/presentation/shots/change_det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65548" y="1600200"/>
            <a:ext cx="3030424" cy="4160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i="1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telehealth_coverage_2024.md → telehealth_coverage_2025.md — tightened, loosened, added or removed, with the likely claim impact.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COTIVITI — OPPORTUNITY, RISK, RECOMMENDATION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creates value — and where to be careful.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5300320" cy="2331720"/>
          </a:xfrm>
          <a:prstGeom prst="roundRect">
            <a:avLst>
              <a:gd name="adj" fmla="val 2745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084832"/>
            <a:ext cx="475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59536" y="2633472"/>
            <a:ext cx="91440" cy="91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2542032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compresses from minutes to seconds, every answer cited.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9536" y="3200400"/>
            <a:ext cx="91440" cy="91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3108960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Claim-vs-policy adjudication with the evidence shown — the core workflow.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59536" y="3767328"/>
            <a:ext cx="91440" cy="91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3675888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monitoring of policy revisions across a living rule library.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4448" y="1874520"/>
            <a:ext cx="5300320" cy="2331720"/>
          </a:xfrm>
          <a:prstGeom prst="roundRect">
            <a:avLst>
              <a:gd name="adj" fmla="val 2745"/>
            </a:avLst>
          </a:prstGeom>
          <a:solidFill>
            <a:srgbClr val="16161C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98768" y="2084832"/>
            <a:ext cx="475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0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THREATS / RISKS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17056" y="2633472"/>
            <a:ext cx="91440" cy="91440"/>
          </a:xfrm>
          <a:prstGeom prst="rect">
            <a:avLst/>
          </a:prstGeom>
          <a:solidFill>
            <a:srgbClr val="F04A4A"/>
          </a:solidFill>
          <a:ln/>
        </p:spPr>
      </p:sp>
      <p:sp>
        <p:nvSpPr>
          <p:cNvPr id="18" name="Text 16"/>
          <p:cNvSpPr/>
          <p:nvPr/>
        </p:nvSpPr>
        <p:spPr>
          <a:xfrm>
            <a:off x="6836512" y="2542032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codes or rules — a compliance liability if ungrounded.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17056" y="3200400"/>
            <a:ext cx="91440" cy="91440"/>
          </a:xfrm>
          <a:prstGeom prst="rect">
            <a:avLst/>
          </a:prstGeom>
          <a:solidFill>
            <a:srgbClr val="F04A4A"/>
          </a:solidFill>
          <a:ln/>
        </p:spPr>
      </p:sp>
      <p:sp>
        <p:nvSpPr>
          <p:cNvPr id="20" name="Text 18"/>
          <p:cNvSpPr/>
          <p:nvPr/>
        </p:nvSpPr>
        <p:spPr>
          <a:xfrm>
            <a:off x="6836512" y="3108960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policy: answers must track the current source of truth.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617056" y="3767328"/>
            <a:ext cx="91440" cy="91440"/>
          </a:xfrm>
          <a:prstGeom prst="rect">
            <a:avLst/>
          </a:prstGeom>
          <a:solidFill>
            <a:srgbClr val="F04A4A"/>
          </a:solidFill>
          <a:ln/>
        </p:spPr>
      </p:sp>
      <p:sp>
        <p:nvSpPr>
          <p:cNvPr id="22" name="Text 20"/>
          <p:cNvSpPr/>
          <p:nvPr/>
        </p:nvSpPr>
        <p:spPr>
          <a:xfrm>
            <a:off x="6836512" y="3675888"/>
            <a:ext cx="452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Over-automation without a human in the loop on payment decisions.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34840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0E0E15"/>
          </a:solidFill>
          <a:ln w="12700">
            <a:solidFill>
              <a:srgbClr val="2424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434840"/>
            <a:ext cx="82296" cy="1234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617720"/>
            <a:ext cx="10509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6968" y="4937760"/>
            <a:ext cx="1041775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retrieval-grounded, human-in-the-loop policy assistant on one bounded coding domain. Measure analyst time-to-answer and citation accuracy before widening scope.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84632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20624"/>
            <a:ext cx="1080180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HONESTY &amp;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about today’s limits, deliberate about what’s next.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CLINICAL POLICY RAG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0161727" y="64190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530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13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BEING HONEST — NOW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0592"/>
            <a:ext cx="91440" cy="91440"/>
          </a:xfrm>
          <a:prstGeom prst="rect">
            <a:avLst/>
          </a:prstGeom>
          <a:solidFill>
            <a:srgbClr val="E1348B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331720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claims (CLM-2041/2042) are synthetic — no real patient data.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91440" cy="91440"/>
          </a:xfrm>
          <a:prstGeom prst="rect">
            <a:avLst/>
          </a:prstGeom>
          <a:solidFill>
            <a:srgbClr val="E1348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3172968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a summarized excerpt, but every file cites its real CMS source.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91440" cy="91440"/>
          </a:xfrm>
          <a:prstGeom prst="rect">
            <a:avLst/>
          </a:prstGeom>
          <a:solidFill>
            <a:srgbClr val="E1348B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14216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Within-policy reasoning works; reasoning across separate documents still benefits from reranking or agentic retrieval.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24448" y="1874520"/>
            <a:ext cx="530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24448" y="2450592"/>
            <a:ext cx="91440" cy="91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562192" y="2331720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corpus + a labeled eval benchmark for retrieval precision.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24448" y="3291840"/>
            <a:ext cx="91440" cy="91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6562192" y="3172968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for multi-document questions.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4448" y="4133088"/>
            <a:ext cx="91440" cy="91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6562192" y="4014216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 before any adjudication reaches a rules engine.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324448" y="4974336"/>
            <a:ext cx="91440" cy="91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6562192" y="4855464"/>
            <a:ext cx="502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and full audit logging on every answer.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286000"/>
            <a:ext cx="146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22219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2697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Policy RAG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66928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answers, claim adjudication, and a working guardrail — built local and free.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526280"/>
            <a:ext cx="3657600" cy="0"/>
          </a:xfrm>
          <a:prstGeom prst="line">
            <a:avLst/>
          </a:prstGeom>
          <a:noFill/>
          <a:ln w="12700">
            <a:solidFill>
              <a:srgbClr val="2424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4709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b="1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github.com/Iyman-Ahmed/clinical-rag-poc
</a:t>
            </a:r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9CA0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iyman12393@gmail.com
</a:t>
            </a:r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Iyman Ahmed  ·  Cotiviti — GenAI Research Engineer Intern Assessment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Policy RAG</dc:title>
  <dc:subject>PptxGenJS Presentation</dc:subject>
  <dc:creator>Iyman Ahmed</dc:creator>
  <cp:lastModifiedBy>Iyman Ahmed</cp:lastModifiedBy>
  <cp:revision>1</cp:revision>
  <dcterms:created xsi:type="dcterms:W3CDTF">2026-07-03T17:47:12Z</dcterms:created>
  <dcterms:modified xsi:type="dcterms:W3CDTF">2026-07-03T17:47:12Z</dcterms:modified>
</cp:coreProperties>
</file>